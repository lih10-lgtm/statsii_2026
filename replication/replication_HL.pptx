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1" r:id="rId9"/>
    <p:sldId id="272" r:id="rId10"/>
    <p:sldId id="273" r:id="rId11"/>
    <p:sldId id="275" r:id="rId12"/>
    <p:sldId id="276" r:id="rId13"/>
    <p:sldId id="277" r:id="rId14"/>
    <p:sldId id="278" r:id="rId15"/>
    <p:sldId id="279" r:id="rId16"/>
    <p:sldId id="266" r:id="rId17"/>
  </p:sldIdLst>
  <p:sldSz cx="12192000" cy="6858000"/>
  <p:notesSz cx="6858000" cy="9144000"/>
  <p:embeddedFontLst>
    <p:embeddedFont>
      <p:font typeface="DM Sans" pitchFamily="2" charset="0"/>
      <p:regular r:id="rId19"/>
      <p:bold r:id="rId20"/>
      <p:italic r:id="rId21"/>
      <p:boldItalic r:id="rId22"/>
    </p:embeddedFont>
    <p:embeddedFont>
      <p:font typeface="Merriweather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88"/>
    <a:srgbClr val="D45E00"/>
    <a:srgbClr val="37A7E5"/>
    <a:srgbClr val="55B4E9"/>
    <a:srgbClr val="F3F0DF"/>
    <a:srgbClr val="334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31D29E-E4FD-48A2-B18A-9E77E4A430F0}">
  <a:tblStyle styleId="{3931D29E-E4FD-48A2-B18A-9E77E4A430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4910" autoAdjust="0"/>
  </p:normalViewPr>
  <p:slideViewPr>
    <p:cSldViewPr snapToGrid="0">
      <p:cViewPr varScale="1">
        <p:scale>
          <a:sx n="42" d="100"/>
          <a:sy n="42" d="100"/>
        </p:scale>
        <p:origin x="2043" y="41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I replicated the study by Carsten Schwemmer and Magdalena Riedl, published in 2025 in </a:t>
            </a:r>
            <a:r>
              <a:rPr lang="en-US" altLang="zh-CN" dirty="0" err="1"/>
              <a:t>PLOSOne</a:t>
            </a:r>
            <a:r>
              <a:rPr lang="en-US" altLang="zh-CN" dirty="0"/>
              <a:t>, </a:t>
            </a:r>
            <a:r>
              <a:rPr lang="en-US" altLang="zh-CN" dirty="0" err="1"/>
              <a:t>Fromhashtags</a:t>
            </a:r>
            <a:r>
              <a:rPr lang="en-US" altLang="zh-CN" dirty="0"/>
              <a:t> to ballots: Conceptualizing political influencers and evaluating their impact on election outcomes.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objective is to analyze how these influencers manage the balance between their political and commercial posts </a:t>
            </a:r>
            <a:r>
              <a:rPr lang="en-US" altLang="zh-CN" dirty="0"/>
              <a:t>through </a:t>
            </a:r>
            <a:r>
              <a:rPr lang="en-US" altLang="zh-CN" sz="1100" b="1" dirty="0">
                <a:solidFill>
                  <a:srgbClr val="005088"/>
                </a:solidFill>
                <a:latin typeface="DM Sans" pitchFamily="2" charset="0"/>
                <a:sym typeface="DM Sans"/>
              </a:rPr>
              <a:t>Instagram Post Analysis 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and to evaluate whether they can successfully reach voters who normally have low interest in politics thr</a:t>
            </a:r>
            <a:r>
              <a:rPr lang="en-US" altLang="zh-CN" dirty="0"/>
              <a:t>ough logistic regression analysis</a:t>
            </a:r>
            <a:endParaRPr dirty="0"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Influencer content exhibits a dual nature, strategically balancing commercial monetization with political messaging.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While frequently sharing political topics, influencers rarely take an explicit stance of support or opposition toward political actors.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The width of the violin represents influencer density at each level; a wider section indicates a higher concentration of influencers at that specific level.</a:t>
            </a:r>
            <a:endParaRPr dirty="0"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44241A7B-C19A-46BE-27A3-304AF6E9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A0687021-0EE4-B14D-A9D1-AE0EF62C9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Researchers also done a the temporal analysis to show these influencers don‘t just post political content randomly.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As the election date nears, they significantly increase their political messaging</a:t>
            </a:r>
            <a:r>
              <a:rPr lang="zh-CN" altLang="en-US" dirty="0"/>
              <a:t>，</a:t>
            </a:r>
            <a:r>
              <a:rPr lang="en-US" altLang="zh-CN" dirty="0"/>
              <a:t>especially those with a clear political stance.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bands around the lines represent the 95% confidence intervals, indicating the statistical uncertainty of the estimated trends.</a:t>
            </a:r>
            <a:endParaRPr dirty="0"/>
          </a:p>
        </p:txBody>
      </p:sp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6AFB8800-E65A-D0AD-214B-DF6EC8C00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7697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258C2C54-15C4-85E2-EE88-4EC29AD6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FC70E9C6-68CB-ED95-F3A5-D70F17B56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altLang="zh-CN" sz="1050" dirty="0">
                <a:effectLst/>
                <a:latin typeface="Google Sans Text"/>
              </a:rPr>
              <a:t>1. To answer RQ4—who follows these influencers ,the </a:t>
            </a:r>
            <a:r>
              <a:rPr lang="en-US" altLang="zh-CN" sz="1050" dirty="0" err="1">
                <a:effectLst/>
                <a:latin typeface="Google Sans Text"/>
              </a:rPr>
              <a:t>researcherran</a:t>
            </a:r>
            <a:r>
              <a:rPr lang="en-US" altLang="zh-CN" sz="1050" dirty="0">
                <a:effectLst/>
                <a:latin typeface="Google Sans Text"/>
              </a:rPr>
              <a:t> two logistic regression models. They used different dependent variables: Model 1 predicts </a:t>
            </a:r>
            <a:r>
              <a:rPr lang="en-US" altLang="zh-CN" sz="1050" b="1" dirty="0">
                <a:effectLst/>
                <a:latin typeface="Google Sans Text"/>
              </a:rPr>
              <a:t>Awareness of Influencer</a:t>
            </a:r>
            <a:r>
              <a:rPr lang="en-US" altLang="zh-CN" sz="1050" dirty="0">
                <a:effectLst/>
                <a:latin typeface="Google Sans Text"/>
              </a:rPr>
              <a:t>, and Model 2 predicts </a:t>
            </a:r>
            <a:r>
              <a:rPr lang="en-US" altLang="zh-CN" sz="1050" b="1" dirty="0">
                <a:effectLst/>
                <a:latin typeface="Google Sans Text"/>
              </a:rPr>
              <a:t>Following</a:t>
            </a:r>
            <a:r>
              <a:rPr lang="en-US" altLang="zh-CN" sz="1050" dirty="0">
                <a:effectLst/>
                <a:latin typeface="Google Sans Text"/>
              </a:rPr>
              <a:t>. Both are binary variables, measured as 0 (No) or 1 (Yes).</a:t>
            </a:r>
          </a:p>
          <a:p>
            <a:pPr>
              <a:buNone/>
            </a:pPr>
            <a:r>
              <a:rPr lang="en-US" altLang="zh-CN" sz="1050" dirty="0">
                <a:effectLst/>
                <a:latin typeface="Google Sans Text"/>
              </a:rPr>
              <a:t>2. Independent Variables include Political Interest: Both models share the same independent variables. </a:t>
            </a:r>
            <a:r>
              <a:rPr lang="en-US" altLang="zh-CN" sz="1050" b="1" dirty="0">
                <a:effectLst/>
                <a:latin typeface="Google Sans Text"/>
              </a:rPr>
              <a:t>Political </a:t>
            </a:r>
            <a:r>
              <a:rPr lang="en-US" altLang="zh-CN" sz="1050" b="1" dirty="0" err="1">
                <a:effectLst/>
                <a:latin typeface="Google Sans Text"/>
              </a:rPr>
              <a:t>Interest</a:t>
            </a:r>
            <a:r>
              <a:rPr lang="en-US" altLang="zh-CN" sz="1050" dirty="0" err="1">
                <a:effectLst/>
                <a:latin typeface="Google Sans Text"/>
              </a:rPr>
              <a:t>,is</a:t>
            </a:r>
            <a:r>
              <a:rPr lang="en-US" altLang="zh-CN" sz="1050" dirty="0">
                <a:effectLst/>
                <a:latin typeface="Google Sans Text"/>
              </a:rPr>
              <a:t> measured on a 1 to 5 Likert scale (from low to high).</a:t>
            </a:r>
          </a:p>
          <a:p>
            <a:pPr>
              <a:buNone/>
            </a:pPr>
            <a:r>
              <a:rPr lang="en-US" altLang="zh-CN" sz="1050" dirty="0">
                <a:effectLst/>
                <a:latin typeface="Google Sans Text"/>
              </a:rPr>
              <a:t>3. </a:t>
            </a:r>
            <a:r>
              <a:rPr lang="en-US" altLang="zh-CN" sz="1050" b="1" dirty="0">
                <a:effectLst/>
                <a:latin typeface="Google Sans Text"/>
              </a:rPr>
              <a:t>Motivations of</a:t>
            </a:r>
            <a:r>
              <a:rPr lang="zh-CN" altLang="en-US" sz="1050" b="1" dirty="0">
                <a:effectLst/>
                <a:latin typeface="Google Sans Text"/>
              </a:rPr>
              <a:t>  </a:t>
            </a:r>
            <a:r>
              <a:rPr lang="en-US" altLang="zh-CN" sz="1050" b="1" dirty="0">
                <a:effectLst/>
                <a:latin typeface="Google Sans Text"/>
              </a:rPr>
              <a:t>using</a:t>
            </a:r>
            <a:r>
              <a:rPr lang="zh-CN" altLang="en-US" sz="1050" b="1" dirty="0">
                <a:effectLst/>
                <a:latin typeface="Google Sans Text"/>
              </a:rPr>
              <a:t> </a:t>
            </a:r>
            <a:r>
              <a:rPr lang="en-US" altLang="zh-CN" sz="1050" b="1" dirty="0">
                <a:effectLst/>
                <a:latin typeface="Google Sans Text"/>
              </a:rPr>
              <a:t>social</a:t>
            </a:r>
            <a:r>
              <a:rPr lang="zh-CN" altLang="en-US" sz="1050" b="1" dirty="0">
                <a:effectLst/>
                <a:latin typeface="Google Sans Text"/>
              </a:rPr>
              <a:t> </a:t>
            </a:r>
            <a:r>
              <a:rPr lang="en-US" altLang="zh-CN" sz="1050" b="1" dirty="0">
                <a:effectLst/>
                <a:latin typeface="Google Sans Text"/>
              </a:rPr>
              <a:t>media</a:t>
            </a:r>
            <a:r>
              <a:rPr lang="en-US" altLang="zh-CN" sz="1050" dirty="0">
                <a:effectLst/>
                <a:latin typeface="Google Sans Text"/>
              </a:rPr>
              <a:t>. This is measured by three separate 1 to 5 Likert scales: the motivation to follow public figures, follow brands, and seek entertainment.</a:t>
            </a:r>
          </a:p>
          <a:p>
            <a:pPr>
              <a:buNone/>
            </a:pPr>
            <a:r>
              <a:rPr lang="en-US" altLang="zh-CN" sz="1050" dirty="0">
                <a:effectLst/>
                <a:latin typeface="Google Sans Text"/>
              </a:rPr>
              <a:t>4. Control Variables are the user's Age, Education level, and the number of social media platforms they use.</a:t>
            </a:r>
          </a:p>
          <a:p>
            <a:pPr>
              <a:buNone/>
            </a:pPr>
            <a:r>
              <a:rPr lang="en-US" altLang="zh-CN" sz="1050" b="1" dirty="0">
                <a:effectLst/>
                <a:latin typeface="Google Sans Text"/>
              </a:rPr>
              <a:t>5. The Core Hypothesis:</a:t>
            </a:r>
            <a:r>
              <a:rPr lang="en-US" altLang="zh-CN" sz="1050" dirty="0">
                <a:effectLst/>
                <a:latin typeface="Google Sans Text"/>
              </a:rPr>
              <a:t> </a:t>
            </a:r>
            <a:r>
              <a:rPr lang="en-US" altLang="zh-CN" sz="1050" b="1" dirty="0">
                <a:effectLst/>
                <a:latin typeface="Google Sans Text"/>
              </a:rPr>
              <a:t>core hypothesis</a:t>
            </a:r>
            <a:r>
              <a:rPr lang="en-US" altLang="zh-CN" sz="1050" dirty="0">
                <a:effectLst/>
                <a:latin typeface="Google Sans Text"/>
              </a:rPr>
              <a:t> is that users without political motivation can still become aware of, or follow, political influencers. Mathematically, this means we expect the coefficients for these non-political motivations to be greater than zero.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16BE20AE-3120-CA4A-2C51-9937DDC1FF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788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B1784EF5-352D-3DF3-C35F-5FC07987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40C96ADF-66FC-6D22-90FE-CD2E3ACB1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DB6CC619-DE1B-0257-70AD-935E0BE10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3545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7993C6AB-3EE1-E1DC-3564-D5F06AEFF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8D43B79F-8010-CCC7-19DB-61B7981A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A5563508-ACF9-3346-2DB3-0737F165B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5883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982BF01E-D8C4-2892-8F87-341FBE49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D7DD1D9E-515E-B5A5-E4E8-B972ABDEE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BC401C69-44DC-5A29-9E86-3E1CDD9CC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4707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CBEA2D64-35E5-2EFE-0049-EA60EF89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C31EA62D-7943-CC16-228A-51877D919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F8C1B420-D604-4647-B12B-D7F436FC3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3682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52E8376F-8D41-ECBD-F792-99B45CBD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D85B3D1A-A98A-036E-F34C-B8C02FE9E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F9B15CBB-5277-6994-A6B6-02C071A16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9916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A813EB2-A9B1-60DA-765A-28BD2219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8C35EDBE-FDB7-7F80-D040-A47774B13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Role of Political Interest: Among individuals with high entertainment/consumption motivation, a shift from low to high political interest increases the predicted probability of awareness by 16.3% (from 26.2% to 42.5%) and engagement by 7.0% (from 33.2% to 40.2%).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Reach of Entertainment Motivation: Among those with low political interest, changing from low to high entertainment/consumption motivation results in a 22.7% decrease in predicted awareness (from 48.9% to 26.2%) but a significant 21.8% in crease in active engagement (from 11.4% to 33.2%).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This indicates that political influencers can effectively reach the general public by balancing political </a:t>
            </a:r>
            <a:r>
              <a:rPr lang="en-US" altLang="zh-CN" dirty="0" err="1"/>
              <a:t>messag</a:t>
            </a:r>
            <a:r>
              <a:rPr lang="en-US" altLang="zh-CN" dirty="0"/>
              <a:t> </a:t>
            </a:r>
            <a:r>
              <a:rPr lang="en-US" altLang="zh-CN" dirty="0" err="1"/>
              <a:t>ing</a:t>
            </a:r>
            <a:r>
              <a:rPr lang="en-US" altLang="zh-CN" dirty="0"/>
              <a:t> with non-political personal content, successfully capturing users who do not primarily use social media for political purposes.</a:t>
            </a:r>
            <a:endParaRPr lang="en-US" dirty="0"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DD742CB8-352A-D55E-4DA7-7C511255B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3898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A0EB7373-9D22-A583-CEAF-2BCA6D2F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BF5D834E-FB74-05A3-C5F1-C7AB52560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overall accuracy </a:t>
            </a:r>
            <a:r>
              <a:rPr lang="en-US" dirty="0"/>
              <a:t>rate was calculated 62.51%, outperforming the null model baseline.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shows that the model possesses certain explanatory power and provides a robust fit for predicting different levels of political influencer engagement.</a:t>
            </a:r>
            <a:endParaRPr dirty="0"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C169F03A-6FE9-4565-D69F-32BF7B278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7212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6782642-1E34-B4B6-CCF9-85A3E14915F3}"/>
              </a:ext>
            </a:extLst>
          </p:cNvPr>
          <p:cNvSpPr/>
          <p:nvPr/>
        </p:nvSpPr>
        <p:spPr>
          <a:xfrm>
            <a:off x="0" y="2094523"/>
            <a:ext cx="12192000" cy="4763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295275" y="742449"/>
            <a:ext cx="1160145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F3F0DF"/>
                </a:solidFill>
                <a:latin typeface="Merriweather"/>
                <a:ea typeface="Calibri" panose="020F0502020204030204" pitchFamily="34" charset="0"/>
                <a:cs typeface="Calibri" panose="020F0502020204030204" pitchFamily="34" charset="0"/>
                <a:sym typeface="Merriweather"/>
              </a:rPr>
              <a:t>Replication Project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3F0DF"/>
                </a:solidFill>
                <a:latin typeface="Merriweather"/>
                <a:sym typeface="Calibri"/>
              </a:rPr>
              <a:t>Hanyu Li  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3F0DF"/>
                </a:solidFill>
                <a:latin typeface="Merriweather"/>
                <a:sym typeface="Calibri"/>
              </a:rPr>
              <a:t>April 2, 2026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9889F2C-F7F5-A8F4-446F-00AE82E7BFFC}"/>
              </a:ext>
            </a:extLst>
          </p:cNvPr>
          <p:cNvGrpSpPr/>
          <p:nvPr/>
        </p:nvGrpSpPr>
        <p:grpSpPr>
          <a:xfrm>
            <a:off x="517925" y="2499208"/>
            <a:ext cx="11378800" cy="3548184"/>
            <a:chOff x="0" y="2472854"/>
            <a:chExt cx="12192000" cy="380175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C5721A5-EC9E-DDAD-83EF-79AB11CFBE3A}"/>
                </a:ext>
              </a:extLst>
            </p:cNvPr>
            <p:cNvGrpSpPr/>
            <p:nvPr/>
          </p:nvGrpSpPr>
          <p:grpSpPr>
            <a:xfrm>
              <a:off x="0" y="2472854"/>
              <a:ext cx="12192000" cy="3801759"/>
              <a:chOff x="-1327265" y="1300559"/>
              <a:chExt cx="12192000" cy="3801759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5D802D39-CC20-6BAA-A3EE-6C4DF06F91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26632" b="2962"/>
              <a:stretch>
                <a:fillRect/>
              </a:stretch>
            </p:blipFill>
            <p:spPr>
              <a:xfrm>
                <a:off x="-1327265" y="1300559"/>
                <a:ext cx="12192000" cy="3801759"/>
              </a:xfrm>
              <a:prstGeom prst="rect">
                <a:avLst/>
              </a:prstGeom>
            </p:spPr>
          </p:pic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85C36895-F21C-80D9-BDDC-33C199B49F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70553" b="70235"/>
              <a:stretch>
                <a:fillRect/>
              </a:stretch>
            </p:blipFill>
            <p:spPr>
              <a:xfrm>
                <a:off x="-1137285" y="1779701"/>
                <a:ext cx="3168362" cy="1418380"/>
              </a:xfrm>
              <a:prstGeom prst="rect">
                <a:avLst/>
              </a:prstGeom>
            </p:spPr>
          </p:pic>
        </p:grp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DB350FB-7A94-64CF-0783-4DF309BEC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035" y="4843695"/>
              <a:ext cx="2342284" cy="1076734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3F0D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1022812" y="2929703"/>
            <a:ext cx="952500" cy="38100"/>
          </a:xfrm>
          <a:prstGeom prst="rect">
            <a:avLst/>
          </a:prstGeom>
          <a:solidFill>
            <a:srgbClr val="FF8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50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55011" y="2245650"/>
            <a:ext cx="185772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5088"/>
                </a:solidFill>
                <a:latin typeface="DM Sans"/>
                <a:ea typeface="Calibri" panose="020F0502020204030204" pitchFamily="34" charset="0"/>
                <a:cs typeface="Calibri" panose="020F0502020204030204" pitchFamily="34" charset="0"/>
                <a:sym typeface="DM Sans"/>
              </a:rPr>
              <a:t>C</a:t>
            </a:r>
            <a:r>
              <a:rPr lang="en-US" altLang="zh-CN" sz="3200" b="1" i="0" u="none" strike="noStrike" cap="none" dirty="0">
                <a:solidFill>
                  <a:srgbClr val="005088"/>
                </a:solidFill>
                <a:latin typeface="DM Sans"/>
                <a:ea typeface="Calibri" panose="020F0502020204030204" pitchFamily="34" charset="0"/>
                <a:cs typeface="Calibri" panose="020F0502020204030204" pitchFamily="34" charset="0"/>
                <a:sym typeface="DM Sans"/>
              </a:rPr>
              <a:t>ontent</a:t>
            </a:r>
            <a:endParaRPr sz="2400" dirty="0">
              <a:solidFill>
                <a:srgbClr val="005088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55011" y="3159413"/>
            <a:ext cx="2936471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800" b="1" dirty="0">
                <a:solidFill>
                  <a:srgbClr val="005088"/>
                </a:solidFill>
              </a:rPr>
              <a:t>Original Research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334155"/>
                </a:solidFill>
              </a:rPr>
              <a:t>Background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334155"/>
                </a:solidFill>
              </a:rPr>
              <a:t>Research Question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334155"/>
                </a:solidFill>
              </a:rPr>
              <a:t>Methodology</a:t>
            </a:r>
          </a:p>
          <a:p>
            <a:pPr lvl="0">
              <a:lnSpc>
                <a:spcPct val="150000"/>
              </a:lnSpc>
            </a:pPr>
            <a:endParaRPr sz="1800" dirty="0">
              <a:solidFill>
                <a:srgbClr val="005088"/>
              </a:solidFill>
            </a:endParaRPr>
          </a:p>
        </p:txBody>
      </p:sp>
      <p:sp>
        <p:nvSpPr>
          <p:cNvPr id="2" name="Google Shape;95;p14">
            <a:extLst>
              <a:ext uri="{FF2B5EF4-FFF2-40B4-BE49-F238E27FC236}">
                <a16:creationId xmlns:a16="http://schemas.microsoft.com/office/drawing/2014/main" id="{DF90C976-9F8F-6D7E-A6B8-72B966854A0D}"/>
              </a:ext>
            </a:extLst>
          </p:cNvPr>
          <p:cNvSpPr txBox="1"/>
          <p:nvPr/>
        </p:nvSpPr>
        <p:spPr>
          <a:xfrm>
            <a:off x="4015394" y="3159413"/>
            <a:ext cx="3840133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800" b="1" dirty="0">
                <a:solidFill>
                  <a:srgbClr val="005088"/>
                </a:solidFill>
              </a:rPr>
              <a:t>Replication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334155"/>
                </a:solidFill>
              </a:rPr>
              <a:t>Descriptive Analysis(Figures</a:t>
            </a:r>
            <a:r>
              <a:rPr lang="zh-CN" altLang="en-US" sz="1800" dirty="0">
                <a:solidFill>
                  <a:srgbClr val="334155"/>
                </a:solidFill>
              </a:rPr>
              <a:t>）</a:t>
            </a:r>
            <a:endParaRPr lang="en-US" altLang="zh-CN" sz="1800" dirty="0">
              <a:solidFill>
                <a:srgbClr val="334155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Logistic Regression Analysis</a:t>
            </a:r>
            <a:endParaRPr sz="1800" dirty="0">
              <a:solidFill>
                <a:srgbClr val="334155"/>
              </a:solidFill>
            </a:endParaRPr>
          </a:p>
        </p:txBody>
      </p:sp>
      <p:sp>
        <p:nvSpPr>
          <p:cNvPr id="3" name="Google Shape;95;p14">
            <a:extLst>
              <a:ext uri="{FF2B5EF4-FFF2-40B4-BE49-F238E27FC236}">
                <a16:creationId xmlns:a16="http://schemas.microsoft.com/office/drawing/2014/main" id="{CB892496-D7FC-33A9-EBED-B26BC63B9756}"/>
              </a:ext>
            </a:extLst>
          </p:cNvPr>
          <p:cNvSpPr txBox="1"/>
          <p:nvPr/>
        </p:nvSpPr>
        <p:spPr>
          <a:xfrm>
            <a:off x="7920817" y="3159413"/>
            <a:ext cx="4052974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800" b="1" dirty="0">
                <a:solidFill>
                  <a:srgbClr val="005088"/>
                </a:solidFill>
              </a:rPr>
              <a:t>Extension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334155"/>
                </a:solidFill>
              </a:rPr>
              <a:t>Likelihood Ratio Test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Multinomial Logistic Regression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Fit </a:t>
            </a:r>
            <a:r>
              <a:rPr lang="en-US" altLang="zh-CN" sz="1800" dirty="0">
                <a:solidFill>
                  <a:srgbClr val="334155"/>
                </a:solidFill>
              </a:rPr>
              <a:t>and Prediction</a:t>
            </a:r>
            <a:endParaRPr sz="1800" dirty="0">
              <a:solidFill>
                <a:srgbClr val="33415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</a:t>
            </a:r>
            <a:endParaRPr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63E722-8A7B-C08A-1B2E-6541B1FDDBDD}"/>
              </a:ext>
            </a:extLst>
          </p:cNvPr>
          <p:cNvSpPr txBox="1"/>
          <p:nvPr/>
        </p:nvSpPr>
        <p:spPr>
          <a:xfrm>
            <a:off x="571499" y="1408944"/>
            <a:ext cx="10201795" cy="1258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5088"/>
                </a:solidFill>
                <a:latin typeface="DM Sans" pitchFamily="2" charset="0"/>
              </a:rPr>
              <a:t>Self-Selection in Online Politics</a:t>
            </a:r>
            <a:endParaRPr lang="en-US" altLang="zh-CN" sz="2000" b="1" dirty="0">
              <a:latin typeface="DM Sans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334155"/>
                </a:solidFill>
                <a:latin typeface="DM Sans" pitchFamily="2" charset="0"/>
              </a:rPr>
              <a:t>Traditional online political discourse is often "self-selected," dominated by institutional elite influencers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334155"/>
                </a:solidFill>
                <a:latin typeface="DM Sans" pitchFamily="2" charset="0"/>
              </a:rPr>
              <a:t>(e.g. politicians or journalists ) and highly interested citizens.</a:t>
            </a:r>
            <a:endParaRPr lang="zh-CN" altLang="en-US" sz="1600" dirty="0">
              <a:solidFill>
                <a:srgbClr val="334155"/>
              </a:solidFill>
              <a:latin typeface="DM Sans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5CB20B-A927-B85A-84CA-D2BA59E632FA}"/>
              </a:ext>
            </a:extLst>
          </p:cNvPr>
          <p:cNvSpPr txBox="1"/>
          <p:nvPr/>
        </p:nvSpPr>
        <p:spPr>
          <a:xfrm>
            <a:off x="571499" y="2912783"/>
            <a:ext cx="9693729" cy="1258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5088"/>
                </a:solidFill>
                <a:latin typeface="DM Sans" pitchFamily="2" charset="0"/>
              </a:rPr>
              <a:t>The Rise of Grassroots Political Influencers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334155"/>
                </a:solidFill>
                <a:latin typeface="DM Sans" pitchFamily="2" charset="0"/>
              </a:rPr>
              <a:t>A new class of grassroots influencers has emerged, building massive followings through daily lifestyle content rather than official political backgrounds.</a:t>
            </a:r>
            <a:endParaRPr lang="zh-CN" altLang="en-US" sz="1600" dirty="0">
              <a:solidFill>
                <a:srgbClr val="334155"/>
              </a:solidFill>
              <a:latin typeface="DM Sans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557E74-A827-7DEC-AA48-7E7E439CC56C}"/>
              </a:ext>
            </a:extLst>
          </p:cNvPr>
          <p:cNvSpPr txBox="1"/>
          <p:nvPr/>
        </p:nvSpPr>
        <p:spPr>
          <a:xfrm>
            <a:off x="571499" y="4416622"/>
            <a:ext cx="9693729" cy="1258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5088"/>
                </a:solidFill>
                <a:latin typeface="DM Sans" pitchFamily="2" charset="0"/>
              </a:rPr>
              <a:t>The Dual Nature of Influencers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334155"/>
                </a:solidFill>
                <a:latin typeface="DM Sans" pitchFamily="2" charset="0"/>
              </a:rPr>
              <a:t>During election periods, these influencers reveal a dual nature :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334155"/>
                </a:solidFill>
                <a:latin typeface="DM Sans" pitchFamily="2" charset="0"/>
              </a:rPr>
              <a:t>strategically </a:t>
            </a:r>
            <a:r>
              <a:rPr lang="en-US" altLang="zh-CN" sz="1600" b="1" u="sng" dirty="0">
                <a:solidFill>
                  <a:srgbClr val="334155"/>
                </a:solidFill>
                <a:latin typeface="DM Sans" pitchFamily="2" charset="0"/>
              </a:rPr>
              <a:t>blending commercial monetization with political messaging </a:t>
            </a:r>
            <a:r>
              <a:rPr lang="en-US" altLang="zh-CN" sz="1600" dirty="0">
                <a:solidFill>
                  <a:srgbClr val="334155"/>
                </a:solidFill>
                <a:latin typeface="DM Sans" pitchFamily="2" charset="0"/>
              </a:rPr>
              <a:t>to reach ordinary users.</a:t>
            </a:r>
            <a:endParaRPr lang="zh-CN" altLang="en-US" sz="1600" dirty="0">
              <a:solidFill>
                <a:srgbClr val="334155"/>
              </a:solidFill>
              <a:latin typeface="DM Sans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238250" y="595641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Research Questions</a:t>
            </a:r>
            <a:endParaRPr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1381124" y="2715916"/>
            <a:ext cx="112680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RQ2: Political Content Strategy</a:t>
            </a:r>
            <a:br>
              <a:rPr lang="en-US" sz="20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what extent do political influencers support or disapprove political actors or events?</a:t>
            </a:r>
            <a:endParaRPr sz="1600" dirty="0">
              <a:solidFill>
                <a:srgbClr val="334155"/>
              </a:solidFill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1381125" y="3555054"/>
            <a:ext cx="10239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RQ3: Commercial Monetization</a:t>
            </a:r>
            <a:br>
              <a:rPr lang="en-US" sz="20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How much commercial advertisement is integrated into the posts of political influencers??</a:t>
            </a:r>
            <a:endParaRPr sz="1600" dirty="0">
              <a:solidFill>
                <a:srgbClr val="334155"/>
              </a:solidFill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1381124" y="4965006"/>
            <a:ext cx="10239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RQ4: Audience Reach</a:t>
            </a:r>
            <a:br>
              <a:rPr lang="en-US" sz="20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Which voters follow these influencers? Can they reach audiences with low political interest?</a:t>
            </a:r>
            <a:endParaRPr sz="1600" dirty="0">
              <a:solidFill>
                <a:srgbClr val="334155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AAA132-D94B-42F9-DEC1-4468C6A4C8EE}"/>
              </a:ext>
            </a:extLst>
          </p:cNvPr>
          <p:cNvSpPr txBox="1"/>
          <p:nvPr/>
        </p:nvSpPr>
        <p:spPr>
          <a:xfrm>
            <a:off x="1238250" y="1253588"/>
            <a:ext cx="6766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5088"/>
                </a:solidFill>
                <a:latin typeface="DM Sans" pitchFamily="2" charset="0"/>
              </a:rPr>
              <a:t>Taking grassroots political influencers as research subjects, the researchers hoped to understand…</a:t>
            </a:r>
            <a:endParaRPr lang="zh-CN" altLang="en-US" sz="1800" dirty="0">
              <a:solidFill>
                <a:srgbClr val="005088"/>
              </a:solidFill>
              <a:latin typeface="DM Sans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44E732-DB31-0406-8BDC-7BDF43402D70}"/>
              </a:ext>
            </a:extLst>
          </p:cNvPr>
          <p:cNvSpPr txBox="1"/>
          <p:nvPr/>
        </p:nvSpPr>
        <p:spPr>
          <a:xfrm>
            <a:off x="1289050" y="2273845"/>
            <a:ext cx="632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5088"/>
                </a:solidFill>
                <a:latin typeface="DM Sans" pitchFamily="2" charset="0"/>
                <a:sym typeface="DM Sans"/>
              </a:rPr>
              <a:t>Instagram Post Analysis | Description</a:t>
            </a:r>
            <a:endParaRPr lang="zh-CN" altLang="en-US" sz="2400" b="1" dirty="0">
              <a:solidFill>
                <a:srgbClr val="005088"/>
              </a:solidFill>
              <a:latin typeface="DM Sans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0C5D8A-BEA2-2340-E871-D9E9CBBBFBAC}"/>
              </a:ext>
            </a:extLst>
          </p:cNvPr>
          <p:cNvSpPr txBox="1"/>
          <p:nvPr/>
        </p:nvSpPr>
        <p:spPr>
          <a:xfrm>
            <a:off x="1238250" y="4542528"/>
            <a:ext cx="632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5088"/>
                </a:solidFill>
                <a:latin typeface="DM Sans" pitchFamily="2" charset="0"/>
                <a:sym typeface="DM Sans"/>
              </a:rPr>
              <a:t>Questionnaire Survey | Regression</a:t>
            </a:r>
            <a:endParaRPr lang="zh-CN" altLang="en-US" sz="2400" b="1" dirty="0">
              <a:solidFill>
                <a:srgbClr val="005088"/>
              </a:solidFill>
              <a:latin typeface="DM Sans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7" grpId="0"/>
      <p:bldP spid="118" grpId="0"/>
      <p:bldP spid="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63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Source</a:t>
            </a:r>
            <a:endParaRPr dirty="0"/>
          </a:p>
        </p:txBody>
      </p:sp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00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128" y="3852862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6153E45-126C-D4D2-4AD4-2DED0E8A226C}"/>
              </a:ext>
            </a:extLst>
          </p:cNvPr>
          <p:cNvSpPr txBox="1"/>
          <p:nvPr/>
        </p:nvSpPr>
        <p:spPr>
          <a:xfrm>
            <a:off x="800100" y="1493862"/>
            <a:ext cx="632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5088"/>
                </a:solidFill>
                <a:latin typeface="DM Sans" pitchFamily="2" charset="0"/>
                <a:sym typeface="DM Sans"/>
              </a:rPr>
              <a:t>Instagram Post Analysis | Description</a:t>
            </a:r>
            <a:endParaRPr lang="zh-CN" altLang="en-US" sz="2400" b="1" dirty="0">
              <a:solidFill>
                <a:srgbClr val="005088"/>
              </a:solidFill>
              <a:latin typeface="DM Sans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7B1344-8BAE-B0B2-FB26-B03189AD8CF1}"/>
              </a:ext>
            </a:extLst>
          </p:cNvPr>
          <p:cNvSpPr txBox="1"/>
          <p:nvPr/>
        </p:nvSpPr>
        <p:spPr>
          <a:xfrm>
            <a:off x="800100" y="3794388"/>
            <a:ext cx="6428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5088"/>
                </a:solidFill>
                <a:latin typeface="DM Sans" pitchFamily="2" charset="0"/>
                <a:sym typeface="DM Sans"/>
              </a:rPr>
              <a:t>Questionnaire Survey | Regression</a:t>
            </a:r>
            <a:endParaRPr lang="zh-CN" altLang="en-US" sz="2400" b="1" dirty="0">
              <a:solidFill>
                <a:srgbClr val="005088"/>
              </a:solidFill>
              <a:latin typeface="DM Sans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41DD1F-89F5-8381-241D-A746219A7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66" y="1915725"/>
            <a:ext cx="10634643" cy="1300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Sample Size: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 2,915 posts from 98 German grassroots influencers (after data cleaning).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Method: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 Data scraped via Instagram API and cross-coded by 357 human coders for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Core Variables: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 Post categories (political vs. commercial) and weekly engagement/traffic metrics.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C1902A7-6B11-33F3-0F65-093E042E4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4241789"/>
            <a:ext cx="10673115" cy="1300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Sample Size: 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2,891 individual respondents (N = 2,891) from the 2021 German Federal Election.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Method: 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An online follow-up survey measuring social media habits and political participation.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Core Variables: 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Demographics (age/</a:t>
            </a:r>
            <a:r>
              <a:rPr kumimoji="0" lang="en-US" altLang="zh-CN" sz="1800" i="0" u="none" strike="noStrike" cap="none" normalizeH="0" baseline="0" dirty="0" err="1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edu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DM Sans" pitchFamily="2" charset="0"/>
              </a:rPr>
              <a:t>), political interest, and motivations for using social media.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507704" y="376611"/>
            <a:ext cx="782435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Replication: Descriptive Analysis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23EF60-35F1-2F81-0015-941AD6868A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920"/>
          <a:stretch>
            <a:fillRect/>
          </a:stretch>
        </p:blipFill>
        <p:spPr>
          <a:xfrm>
            <a:off x="6147072" y="2414075"/>
            <a:ext cx="5808074" cy="39482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E306A1-9263-66D8-A740-241A27BDB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14" y="2414075"/>
            <a:ext cx="5668286" cy="3948254"/>
          </a:xfrm>
          <a:prstGeom prst="rect">
            <a:avLst/>
          </a:prstGeom>
        </p:spPr>
      </p:pic>
      <p:sp>
        <p:nvSpPr>
          <p:cNvPr id="6" name="Google Shape;139;p18">
            <a:extLst>
              <a:ext uri="{FF2B5EF4-FFF2-40B4-BE49-F238E27FC236}">
                <a16:creationId xmlns:a16="http://schemas.microsoft.com/office/drawing/2014/main" id="{E889742A-DBC3-03D2-75CC-CFC7E3860EAB}"/>
              </a:ext>
            </a:extLst>
          </p:cNvPr>
          <p:cNvSpPr txBox="1"/>
          <p:nvPr/>
        </p:nvSpPr>
        <p:spPr>
          <a:xfrm>
            <a:off x="2531880" y="6528280"/>
            <a:ext cx="8194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DM Sans" pitchFamily="2" charset="0"/>
                <a:sym typeface="Merriweather"/>
              </a:rPr>
              <a:t>O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DM Sans" pitchFamily="2" charset="0"/>
                <a:sym typeface="Merriweather"/>
              </a:rPr>
              <a:t>riginal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DM Sans" pitchFamily="2" charset="0"/>
            </a:endParaRPr>
          </a:p>
        </p:txBody>
      </p:sp>
      <p:sp>
        <p:nvSpPr>
          <p:cNvPr id="7" name="Google Shape;139;p18">
            <a:extLst>
              <a:ext uri="{FF2B5EF4-FFF2-40B4-BE49-F238E27FC236}">
                <a16:creationId xmlns:a16="http://schemas.microsoft.com/office/drawing/2014/main" id="{07C58C72-7201-1B99-379A-F53D05AE2850}"/>
              </a:ext>
            </a:extLst>
          </p:cNvPr>
          <p:cNvSpPr txBox="1"/>
          <p:nvPr/>
        </p:nvSpPr>
        <p:spPr>
          <a:xfrm>
            <a:off x="8711007" y="6528280"/>
            <a:ext cx="159527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DM Sans" pitchFamily="2" charset="0"/>
                <a:sym typeface="Merriweather"/>
              </a:rPr>
              <a:t>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DM Sans" pitchFamily="2" charset="0"/>
                <a:sym typeface="Merriweather"/>
              </a:rPr>
              <a:t>eplication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  <a:latin typeface="DM Sans" pitchFamily="2" charset="0"/>
            </a:endParaRPr>
          </a:p>
        </p:txBody>
      </p:sp>
      <p:sp>
        <p:nvSpPr>
          <p:cNvPr id="8" name="Google Shape;116;p16">
            <a:extLst>
              <a:ext uri="{FF2B5EF4-FFF2-40B4-BE49-F238E27FC236}">
                <a16:creationId xmlns:a16="http://schemas.microsoft.com/office/drawing/2014/main" id="{473901E1-B5FA-AD4C-33C4-3857B0214763}"/>
              </a:ext>
            </a:extLst>
          </p:cNvPr>
          <p:cNvSpPr txBox="1"/>
          <p:nvPr/>
        </p:nvSpPr>
        <p:spPr>
          <a:xfrm>
            <a:off x="507704" y="991694"/>
            <a:ext cx="11268075" cy="117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RQ2: Political Content Strategy</a:t>
            </a:r>
            <a:endParaRPr lang="en-US" sz="1800" dirty="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4155"/>
                </a:solidFill>
                <a:latin typeface="DM Sans"/>
                <a:ea typeface="Calibri"/>
                <a:cs typeface="Calibri"/>
                <a:sym typeface="DM Sans"/>
              </a:rPr>
              <a:t>B</a:t>
            </a:r>
            <a:r>
              <a:rPr lang="en-US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alancing commercial monetization with political messaging.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Rarely taking an explicit stance of support or opposition toward political actors.</a:t>
            </a:r>
            <a:endParaRPr sz="1800" dirty="0">
              <a:solidFill>
                <a:srgbClr val="33415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7">
          <a:extLst>
            <a:ext uri="{FF2B5EF4-FFF2-40B4-BE49-F238E27FC236}">
              <a16:creationId xmlns:a16="http://schemas.microsoft.com/office/drawing/2014/main" id="{E5077A3B-0DB7-B35E-1B9F-1F8D97C2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>
            <a:extLst>
              <a:ext uri="{FF2B5EF4-FFF2-40B4-BE49-F238E27FC236}">
                <a16:creationId xmlns:a16="http://schemas.microsoft.com/office/drawing/2014/main" id="{C40236A5-7F85-F20C-42DD-9527EE994D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8B78B099-4CBE-1522-21C3-B9FB0E266CFE}"/>
              </a:ext>
            </a:extLst>
          </p:cNvPr>
          <p:cNvSpPr txBox="1"/>
          <p:nvPr/>
        </p:nvSpPr>
        <p:spPr>
          <a:xfrm>
            <a:off x="413558" y="571500"/>
            <a:ext cx="782435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Replication: Descriptive Analysis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Google Shape;139;p18">
            <a:extLst>
              <a:ext uri="{FF2B5EF4-FFF2-40B4-BE49-F238E27FC236}">
                <a16:creationId xmlns:a16="http://schemas.microsoft.com/office/drawing/2014/main" id="{A315E23A-2EA0-5F99-04F7-36756DC6944C}"/>
              </a:ext>
            </a:extLst>
          </p:cNvPr>
          <p:cNvSpPr txBox="1"/>
          <p:nvPr/>
        </p:nvSpPr>
        <p:spPr>
          <a:xfrm>
            <a:off x="2388372" y="6539000"/>
            <a:ext cx="81941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DM Sans" pitchFamily="2" charset="0"/>
                <a:cs typeface="Arial"/>
                <a:sym typeface="Merriweather"/>
              </a:rPr>
              <a:t>O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DM Sans" pitchFamily="2" charset="0"/>
                <a:cs typeface="Arial"/>
                <a:sym typeface="Merriweather"/>
              </a:rPr>
              <a:t>riginal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7" name="Google Shape;139;p18">
            <a:extLst>
              <a:ext uri="{FF2B5EF4-FFF2-40B4-BE49-F238E27FC236}">
                <a16:creationId xmlns:a16="http://schemas.microsoft.com/office/drawing/2014/main" id="{D6BDD813-2EA8-0D46-9825-C405F08A5282}"/>
              </a:ext>
            </a:extLst>
          </p:cNvPr>
          <p:cNvSpPr txBox="1"/>
          <p:nvPr/>
        </p:nvSpPr>
        <p:spPr>
          <a:xfrm>
            <a:off x="8706734" y="6535221"/>
            <a:ext cx="159527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DM Sans" pitchFamily="2" charset="0"/>
                <a:cs typeface="Arial"/>
                <a:sym typeface="Merriweather"/>
              </a:rPr>
              <a:t>R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DM Sans" pitchFamily="2" charset="0"/>
                <a:cs typeface="Arial"/>
                <a:sym typeface="Merriweather"/>
              </a:rPr>
              <a:t>eplication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8" name="Google Shape;116;p16">
            <a:extLst>
              <a:ext uri="{FF2B5EF4-FFF2-40B4-BE49-F238E27FC236}">
                <a16:creationId xmlns:a16="http://schemas.microsoft.com/office/drawing/2014/main" id="{7E5D8EDA-0655-567D-4B3B-FCC5D5854347}"/>
              </a:ext>
            </a:extLst>
          </p:cNvPr>
          <p:cNvSpPr txBox="1"/>
          <p:nvPr/>
        </p:nvSpPr>
        <p:spPr>
          <a:xfrm>
            <a:off x="413558" y="1240855"/>
            <a:ext cx="12409294" cy="108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 pitchFamily="2" charset="0"/>
                <a:ea typeface="DM Sans"/>
                <a:cs typeface="DM Sans"/>
                <a:sym typeface="DM Sans"/>
              </a:rPr>
              <a:t>RQ2: Political Content Strategy</a:t>
            </a:r>
            <a:endParaRPr lang="en-US" sz="1800" dirty="0">
              <a:solidFill>
                <a:srgbClr val="334155"/>
              </a:solidFill>
              <a:latin typeface="DM Sans" pitchFamily="2" charset="0"/>
              <a:ea typeface="Calibri"/>
              <a:cs typeface="Calibri"/>
              <a:sym typeface="Calibri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Time-series analysis reveals a sharp increase in political content as the BTW2021 approaches.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i="1" dirty="0">
                <a:solidFill>
                  <a:srgbClr val="334155"/>
                </a:solidFill>
              </a:rPr>
              <a:t>      *Bands around the lines represent the 95% confidence intervals</a:t>
            </a:r>
            <a:endParaRPr i="1" dirty="0">
              <a:solidFill>
                <a:srgbClr val="334155"/>
              </a:solidFill>
              <a:latin typeface="DM Sans"/>
              <a:ea typeface="DM Sans"/>
              <a:cs typeface="DM San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2341171-387C-08E1-4250-B2D2D9D10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77" y="2425726"/>
            <a:ext cx="5531462" cy="391335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3DCE9F1-3012-41B7-0791-3362AABE1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585" y="2425726"/>
            <a:ext cx="5623769" cy="391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59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A1593F36-42CC-7004-92A2-CC87E13A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>
            <a:extLst>
              <a:ext uri="{FF2B5EF4-FFF2-40B4-BE49-F238E27FC236}">
                <a16:creationId xmlns:a16="http://schemas.microsoft.com/office/drawing/2014/main" id="{6A7AD18D-4643-8EF2-B8C4-2739836EE6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502CCEAA-4120-8321-C2A2-0100A8DC37EE}"/>
              </a:ext>
            </a:extLst>
          </p:cNvPr>
          <p:cNvSpPr txBox="1"/>
          <p:nvPr/>
        </p:nvSpPr>
        <p:spPr>
          <a:xfrm>
            <a:off x="589399" y="450164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defRPr/>
            </a:pPr>
            <a:r>
              <a:rPr lang="en-US" altLang="zh-CN" sz="33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Replication: Logistic Regression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C83DE8-D3D5-7BFA-787D-BCAC7EDE7504}"/>
              </a:ext>
            </a:extLst>
          </p:cNvPr>
          <p:cNvSpPr txBox="1"/>
          <p:nvPr/>
        </p:nvSpPr>
        <p:spPr>
          <a:xfrm>
            <a:off x="615909" y="4552451"/>
            <a:ext cx="3700241" cy="145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334155"/>
                </a:solidFill>
                <a:latin typeface="DM Sans"/>
              </a:rPr>
              <a:t>DV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334155"/>
                </a:solidFill>
                <a:latin typeface="DM Sans"/>
              </a:rPr>
              <a:t>Awareness: </a:t>
            </a:r>
            <a:r>
              <a:rPr lang="en-US" altLang="zh-CN" sz="1200" dirty="0">
                <a:solidFill>
                  <a:srgbClr val="334155"/>
                </a:solidFill>
                <a:latin typeface="DM Sans"/>
              </a:rPr>
              <a:t>Binary (0 = unaware, 1 = aware), unawares the baseline.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334155"/>
                </a:solidFill>
                <a:latin typeface="DM Sans"/>
              </a:rPr>
              <a:t>Following :</a:t>
            </a:r>
            <a:r>
              <a:rPr lang="zh-CN" altLang="en-US" sz="1200" b="1" dirty="0">
                <a:solidFill>
                  <a:srgbClr val="334155"/>
                </a:solidFill>
                <a:latin typeface="DM Sans"/>
              </a:rPr>
              <a:t> </a:t>
            </a:r>
            <a:r>
              <a:rPr lang="en-US" altLang="zh-CN" sz="1200" dirty="0">
                <a:solidFill>
                  <a:srgbClr val="334155"/>
                </a:solidFill>
                <a:latin typeface="DM Sans"/>
              </a:rPr>
              <a:t>Binary (0 = not following, 1 = following), not following as the baseline.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49285F2-E534-45BC-BEE1-174545B606D4}"/>
              </a:ext>
            </a:extLst>
          </p:cNvPr>
          <p:cNvSpPr txBox="1"/>
          <p:nvPr/>
        </p:nvSpPr>
        <p:spPr>
          <a:xfrm>
            <a:off x="4316150" y="4517933"/>
            <a:ext cx="3680729" cy="200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IV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Political Interest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: Continuous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        Likert scale</a:t>
            </a:r>
            <a:r>
              <a:rPr lang="en-US" altLang="zh-CN" sz="1200" dirty="0">
                <a:solidFill>
                  <a:srgbClr val="334155"/>
                </a:solidFill>
                <a:latin typeface="DM Sans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(1 = low, 5 = high).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Social Media Motivations: </a:t>
            </a:r>
            <a:r>
              <a:rPr lang="en-US" altLang="zh-CN" sz="1200" dirty="0">
                <a:solidFill>
                  <a:srgbClr val="334155"/>
                </a:solidFill>
                <a:latin typeface="DM Sans"/>
              </a:rPr>
              <a:t>Continuous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3 separate Likert scale variables (1-5) measuring motivations </a:t>
            </a:r>
            <a:r>
              <a:rPr kumimoji="0" lang="en-US" altLang="zh-CN" sz="1200" b="1" i="0" u="sng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for following</a:t>
            </a:r>
            <a:r>
              <a:rPr kumimoji="0" lang="zh-CN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①</a:t>
            </a:r>
            <a:r>
              <a:rPr kumimoji="0" lang="en-US" altLang="zh-CN" sz="1200" b="1" i="0" u="sng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 celebrities </a:t>
            </a:r>
            <a:r>
              <a:rPr kumimoji="0" lang="zh-CN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② </a:t>
            </a:r>
            <a:r>
              <a:rPr kumimoji="0" lang="en-US" altLang="zh-CN" sz="1200" b="1" i="0" u="sng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brands </a:t>
            </a:r>
            <a:r>
              <a:rPr kumimoji="0" lang="zh-CN" altLang="en-US" sz="1200" b="1" i="0" u="sng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③ </a:t>
            </a:r>
            <a:r>
              <a:rPr kumimoji="0" lang="en-US" altLang="zh-CN" sz="1200" b="1" i="0" u="sng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entertainment</a:t>
            </a:r>
            <a:r>
              <a:rPr lang="en-US" altLang="zh-CN" sz="1200" b="1" u="sng" dirty="0">
                <a:solidFill>
                  <a:srgbClr val="334155"/>
                </a:solidFill>
                <a:latin typeface="DM Sans"/>
              </a:rPr>
              <a:t>.</a:t>
            </a:r>
            <a:endParaRPr kumimoji="0" lang="zh-CN" altLang="en-US" sz="1200" b="1" i="0" u="sng" strike="noStrike" kern="0" cap="none" spc="0" normalizeH="0" baseline="0" noProof="0" dirty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DM Sans"/>
              <a:cs typeface="Arial"/>
              <a:sym typeface="Arial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5DDBD0-82C2-9375-2C3A-56DBB299780A}"/>
              </a:ext>
            </a:extLst>
          </p:cNvPr>
          <p:cNvSpPr txBox="1"/>
          <p:nvPr/>
        </p:nvSpPr>
        <p:spPr>
          <a:xfrm>
            <a:off x="8016391" y="4566585"/>
            <a:ext cx="3680728" cy="1729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Controls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Age: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Continuous in years.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Education: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Categorical (1 = low, 2 = mid, 3 = high), low as the baseline.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SM Platforms Used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cs typeface="Arial"/>
                <a:sym typeface="Arial"/>
              </a:rPr>
              <a:t>: Continuous ,measuring the count of active social media platforms</a:t>
            </a:r>
            <a:endParaRPr kumimoji="0" lang="zh-CN" altLang="en-US" sz="1200" b="1" i="0" u="sng" strike="noStrike" kern="0" cap="none" spc="0" normalizeH="0" baseline="0" noProof="0" dirty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DM Sans"/>
              <a:cs typeface="Arial"/>
              <a:sym typeface="Arial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26E825C-ABE3-55B5-746B-6AF2150C436D}"/>
              </a:ext>
            </a:extLst>
          </p:cNvPr>
          <p:cNvGrpSpPr/>
          <p:nvPr/>
        </p:nvGrpSpPr>
        <p:grpSpPr>
          <a:xfrm>
            <a:off x="555395" y="2062980"/>
            <a:ext cx="11081210" cy="2324995"/>
            <a:chOff x="555395" y="2062980"/>
            <a:chExt cx="11081210" cy="232499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669CB14-B02E-CE62-83F5-C38F238739FB}"/>
                </a:ext>
              </a:extLst>
            </p:cNvPr>
            <p:cNvSpPr/>
            <p:nvPr/>
          </p:nvSpPr>
          <p:spPr>
            <a:xfrm>
              <a:off x="555395" y="2062980"/>
              <a:ext cx="11081210" cy="2324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6E157D4A-983E-3DE9-2FF5-C85BAAF9E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73905" y="2108662"/>
              <a:ext cx="7667469" cy="2183874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08D9D7B2-D997-330B-8D47-EF7D180D88EA}"/>
              </a:ext>
            </a:extLst>
          </p:cNvPr>
          <p:cNvSpPr txBox="1"/>
          <p:nvPr/>
        </p:nvSpPr>
        <p:spPr>
          <a:xfrm>
            <a:off x="571500" y="1082889"/>
            <a:ext cx="12280900" cy="38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RQ4: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Which voters follow these influencers? Can they reach audiences with low political interest?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7276A4-0753-5E1F-BFC3-A61E07239A55}"/>
              </a:ext>
            </a:extLst>
          </p:cNvPr>
          <p:cNvSpPr/>
          <p:nvPr/>
        </p:nvSpPr>
        <p:spPr>
          <a:xfrm>
            <a:off x="6618514" y="2432957"/>
            <a:ext cx="185057" cy="234043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428681B-305A-0CEF-8E90-61AC709FAE41}"/>
              </a:ext>
            </a:extLst>
          </p:cNvPr>
          <p:cNvSpPr/>
          <p:nvPr/>
        </p:nvSpPr>
        <p:spPr>
          <a:xfrm>
            <a:off x="7946572" y="2432957"/>
            <a:ext cx="185057" cy="234043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497031A-7334-E15E-8FB7-2BAC24F97921}"/>
              </a:ext>
            </a:extLst>
          </p:cNvPr>
          <p:cNvSpPr/>
          <p:nvPr/>
        </p:nvSpPr>
        <p:spPr>
          <a:xfrm>
            <a:off x="5615110" y="2843338"/>
            <a:ext cx="185057" cy="234043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C462BC6-44B3-46B2-F3BF-B5A732481E73}"/>
              </a:ext>
            </a:extLst>
          </p:cNvPr>
          <p:cNvSpPr/>
          <p:nvPr/>
        </p:nvSpPr>
        <p:spPr>
          <a:xfrm>
            <a:off x="6676466" y="3499771"/>
            <a:ext cx="185057" cy="234043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DD17AC9-C2AD-EDEE-94CC-A9A9EA3F5F92}"/>
              </a:ext>
            </a:extLst>
          </p:cNvPr>
          <p:cNvSpPr/>
          <p:nvPr/>
        </p:nvSpPr>
        <p:spPr>
          <a:xfrm>
            <a:off x="8016391" y="3499771"/>
            <a:ext cx="185057" cy="234043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F78E116-B87C-5D4C-D510-56B9CF7648A0}"/>
              </a:ext>
            </a:extLst>
          </p:cNvPr>
          <p:cNvSpPr/>
          <p:nvPr/>
        </p:nvSpPr>
        <p:spPr>
          <a:xfrm>
            <a:off x="5615109" y="3934870"/>
            <a:ext cx="185057" cy="234043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63DD397-9F74-F11C-6FD2-20F9F73B2F62}"/>
              </a:ext>
            </a:extLst>
          </p:cNvPr>
          <p:cNvSpPr txBox="1"/>
          <p:nvPr/>
        </p:nvSpPr>
        <p:spPr>
          <a:xfrm>
            <a:off x="571500" y="1473351"/>
            <a:ext cx="11987447" cy="38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Hypothesis: Users without political motivation also become aware of or follow political influencers (motivation coefficients &gt; 0).</a:t>
            </a:r>
          </a:p>
        </p:txBody>
      </p:sp>
    </p:spTree>
    <p:extLst>
      <p:ext uri="{BB962C8B-B14F-4D97-AF65-F5344CB8AC3E}">
        <p14:creationId xmlns:p14="http://schemas.microsoft.com/office/powerpoint/2010/main" val="1816933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5E748C75-7B2A-05BB-1DC9-F176AD77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>
            <a:extLst>
              <a:ext uri="{FF2B5EF4-FFF2-40B4-BE49-F238E27FC236}">
                <a16:creationId xmlns:a16="http://schemas.microsoft.com/office/drawing/2014/main" id="{AD6F7FC5-38DC-282F-DFD4-A3076602CD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63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FF60FB33-F82B-1F15-A5C9-D201DAF8ABB1}"/>
              </a:ext>
            </a:extLst>
          </p:cNvPr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Replication: Logistic Regression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3E98965-4AD1-BF8B-7C20-E4735607E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876" y="2080377"/>
            <a:ext cx="5864144" cy="369334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9F87FF9-CFEB-E85C-50AC-E5A9C40F6874}"/>
              </a:ext>
            </a:extLst>
          </p:cNvPr>
          <p:cNvSpPr txBox="1"/>
          <p:nvPr/>
        </p:nvSpPr>
        <p:spPr>
          <a:xfrm>
            <a:off x="372032" y="1155548"/>
            <a:ext cx="9312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Non-political social media motivations are positively associated with being aware of and following political influencers.</a:t>
            </a:r>
            <a:endParaRPr lang="zh-CN" altLang="en-US" sz="18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F27499-5BC1-F42C-CC24-30B25254AEF6}"/>
              </a:ext>
            </a:extLst>
          </p:cNvPr>
          <p:cNvSpPr/>
          <p:nvPr/>
        </p:nvSpPr>
        <p:spPr>
          <a:xfrm>
            <a:off x="2249758" y="4202879"/>
            <a:ext cx="696011" cy="234043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23B99C8-F82E-8BD7-5800-816C0812D473}"/>
              </a:ext>
            </a:extLst>
          </p:cNvPr>
          <p:cNvGrpSpPr/>
          <p:nvPr/>
        </p:nvGrpSpPr>
        <p:grpSpPr>
          <a:xfrm>
            <a:off x="571500" y="2080377"/>
            <a:ext cx="4933510" cy="3693344"/>
            <a:chOff x="116379" y="3298003"/>
            <a:chExt cx="6442610" cy="4823092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BB10BEB-2C9A-6E34-799A-A3A1937A0DA3}"/>
                </a:ext>
              </a:extLst>
            </p:cNvPr>
            <p:cNvGrpSpPr/>
            <p:nvPr/>
          </p:nvGrpSpPr>
          <p:grpSpPr>
            <a:xfrm>
              <a:off x="116379" y="3298003"/>
              <a:ext cx="6442610" cy="4823092"/>
              <a:chOff x="-3215147" y="2242457"/>
              <a:chExt cx="11163300" cy="8357114"/>
            </a:xfrm>
          </p:grpSpPr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0E3E4566-0871-988E-6C2E-D572AAE80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739" t="8430" b="-22555"/>
              <a:stretch>
                <a:fillRect/>
              </a:stretch>
            </p:blipFill>
            <p:spPr>
              <a:xfrm>
                <a:off x="-3215147" y="2242457"/>
                <a:ext cx="11163300" cy="2232539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6D02622E-B6C4-99E2-9547-1D7101D44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215147" y="4474996"/>
                <a:ext cx="11163300" cy="6124575"/>
              </a:xfrm>
              <a:prstGeom prst="rect">
                <a:avLst/>
              </a:prstGeom>
            </p:spPr>
          </p:pic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8DCF5DF-E49E-7453-FD0A-51A72940BD0E}"/>
                </a:ext>
              </a:extLst>
            </p:cNvPr>
            <p:cNvSpPr txBox="1"/>
            <p:nvPr/>
          </p:nvSpPr>
          <p:spPr>
            <a:xfrm>
              <a:off x="311907" y="4386928"/>
              <a:ext cx="6051554" cy="331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334155"/>
                  </a:solidFill>
                  <a:effectLst/>
                  <a:uLnTx/>
                  <a:uFillTx/>
                  <a:latin typeface="DM Sans"/>
                  <a:ea typeface="DM Sans"/>
                  <a:cs typeface="DM Sans"/>
                  <a:sym typeface="DM Sans"/>
                </a:rPr>
                <a:t>Control Variables                           </a:t>
              </a:r>
              <a:r>
                <a:rPr lang="en-US" altLang="zh-CN" sz="1050" dirty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……</a:t>
              </a:r>
              <a:r>
                <a:rPr lang="zh-CN" altLang="en-US" sz="1050" dirty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                                       </a:t>
              </a:r>
              <a:r>
                <a:rPr lang="en-US" altLang="zh-CN" sz="1050" dirty="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……</a:t>
              </a:r>
              <a:endParaRPr lang="zh-CN" altLang="en-US" sz="900" dirty="0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4F068EFE-3EAD-F341-8A2B-5FE9F00B8F74}"/>
              </a:ext>
            </a:extLst>
          </p:cNvPr>
          <p:cNvSpPr/>
          <p:nvPr/>
        </p:nvSpPr>
        <p:spPr>
          <a:xfrm>
            <a:off x="2749505" y="4263052"/>
            <a:ext cx="489857" cy="207884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AFB57E-7000-7E85-81A9-80B5D0600A23}"/>
              </a:ext>
            </a:extLst>
          </p:cNvPr>
          <p:cNvSpPr txBox="1"/>
          <p:nvPr/>
        </p:nvSpPr>
        <p:spPr>
          <a:xfrm>
            <a:off x="728123" y="5943880"/>
            <a:ext cx="10269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e.g. Holding all other covariates constant, a one-unit increase in </a:t>
            </a:r>
            <a:r>
              <a:rPr kumimoji="0" lang="en-US" altLang="zh-CN" sz="1800" b="1" i="0" u="sng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entertainment motivation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multiplies the expected odds of following a political influencer by a factor of 1.34</a:t>
            </a:r>
            <a:r>
              <a:rPr lang="en-US" altLang="zh-CN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zh-CN" altLang="en-US" sz="18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DED65E8-C29D-0345-1531-C63BFB11CC8C}"/>
              </a:ext>
            </a:extLst>
          </p:cNvPr>
          <p:cNvSpPr/>
          <p:nvPr/>
        </p:nvSpPr>
        <p:spPr>
          <a:xfrm>
            <a:off x="2749504" y="4771177"/>
            <a:ext cx="489857" cy="207884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339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7D059780-60EE-0BB0-B81D-1093A8D7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>
            <a:extLst>
              <a:ext uri="{FF2B5EF4-FFF2-40B4-BE49-F238E27FC236}">
                <a16:creationId xmlns:a16="http://schemas.microsoft.com/office/drawing/2014/main" id="{6BE872F8-F9EC-5368-CFE3-B9E06BEAFA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63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0C3B18AF-0D9A-858B-D411-4696B46B3830}"/>
              </a:ext>
            </a:extLst>
          </p:cNvPr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Extension 1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1D785A-3808-B9D9-A5D8-EA3363982A74}"/>
              </a:ext>
            </a:extLst>
          </p:cNvPr>
          <p:cNvSpPr txBox="1"/>
          <p:nvPr/>
        </p:nvSpPr>
        <p:spPr>
          <a:xfrm>
            <a:off x="493753" y="1078444"/>
            <a:ext cx="8090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5088"/>
                </a:solidFill>
                <a:latin typeface="DM Sans" pitchFamily="2" charset="0"/>
                <a:sym typeface="DM Sans"/>
              </a:rPr>
              <a:t>Likelihood Ratio Test (Evaluate model fitness)</a:t>
            </a:r>
          </a:p>
          <a:p>
            <a:endParaRPr lang="zh-CN" altLang="en-US" sz="2400" b="1" dirty="0">
              <a:solidFill>
                <a:srgbClr val="005088"/>
              </a:solidFill>
              <a:latin typeface="DM Sans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B3C133-3CCC-D445-A205-39EACCED599B}"/>
              </a:ext>
            </a:extLst>
          </p:cNvPr>
          <p:cNvSpPr txBox="1"/>
          <p:nvPr/>
        </p:nvSpPr>
        <p:spPr>
          <a:xfrm>
            <a:off x="7035698" y="1936129"/>
            <a:ext cx="52877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The LRT results provide sufficient evidence to reject the null hypothesis (H0) for both models (p &lt; 0.001). </a:t>
            </a:r>
            <a:endParaRPr lang="zh-CN" altLang="en-US" sz="18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C639E2-5E5B-F631-E7E0-B52E6665BAEE}"/>
              </a:ext>
            </a:extLst>
          </p:cNvPr>
          <p:cNvGrpSpPr/>
          <p:nvPr/>
        </p:nvGrpSpPr>
        <p:grpSpPr>
          <a:xfrm>
            <a:off x="276409" y="1909441"/>
            <a:ext cx="6541945" cy="3968602"/>
            <a:chOff x="414676" y="2311833"/>
            <a:chExt cx="6863684" cy="416378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679E986-0496-8FA1-AEA5-D0F6EA570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4558"/>
            <a:stretch>
              <a:fillRect/>
            </a:stretch>
          </p:blipFill>
          <p:spPr>
            <a:xfrm>
              <a:off x="414676" y="2311833"/>
              <a:ext cx="6863684" cy="4163781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00A4E84-2955-D538-361C-F82B641F2BC2}"/>
                </a:ext>
              </a:extLst>
            </p:cNvPr>
            <p:cNvSpPr/>
            <p:nvPr/>
          </p:nvSpPr>
          <p:spPr>
            <a:xfrm>
              <a:off x="2817936" y="5018467"/>
              <a:ext cx="1566830" cy="23404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A049BEF-0013-F7F1-461F-4EFA481FF2E4}"/>
                </a:ext>
              </a:extLst>
            </p:cNvPr>
            <p:cNvSpPr/>
            <p:nvPr/>
          </p:nvSpPr>
          <p:spPr>
            <a:xfrm>
              <a:off x="2817936" y="6169478"/>
              <a:ext cx="1566830" cy="234043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6F9BD-6869-168C-26D4-F0480C87D6DC}"/>
              </a:ext>
            </a:extLst>
          </p:cNvPr>
          <p:cNvSpPr txBox="1"/>
          <p:nvPr/>
        </p:nvSpPr>
        <p:spPr>
          <a:xfrm>
            <a:off x="7035698" y="3414224"/>
            <a:ext cx="5287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In both cases, at least one independent variable has a non-zero effect.</a:t>
            </a:r>
            <a:endParaRPr lang="zh-CN" altLang="en-US" sz="1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25BEE1-2097-0E88-67F3-3B966C781597}"/>
              </a:ext>
            </a:extLst>
          </p:cNvPr>
          <p:cNvSpPr txBox="1"/>
          <p:nvPr/>
        </p:nvSpPr>
        <p:spPr>
          <a:xfrm>
            <a:off x="7035698" y="4774463"/>
            <a:ext cx="52877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The models with predictors possess significantly greater explanatory power than random intercept-only models.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92348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ACE9B7C4-9736-BC42-1CD6-7B428629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>
            <a:extLst>
              <a:ext uri="{FF2B5EF4-FFF2-40B4-BE49-F238E27FC236}">
                <a16:creationId xmlns:a16="http://schemas.microsoft.com/office/drawing/2014/main" id="{DF03EF7E-B873-889B-1D92-0A780C876C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63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D82BAE7A-8D03-C518-485C-562DB903CAB3}"/>
              </a:ext>
            </a:extLst>
          </p:cNvPr>
          <p:cNvSpPr txBox="1"/>
          <p:nvPr/>
        </p:nvSpPr>
        <p:spPr>
          <a:xfrm>
            <a:off x="571500" y="42103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Extension 2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7CE1FD-2699-65C0-4E02-0C3B4E3BCF68}"/>
              </a:ext>
            </a:extLst>
          </p:cNvPr>
          <p:cNvSpPr txBox="1"/>
          <p:nvPr/>
        </p:nvSpPr>
        <p:spPr>
          <a:xfrm>
            <a:off x="493753" y="927974"/>
            <a:ext cx="8090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Multinomial Regression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variables recoding)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5088"/>
              </a:solidFill>
              <a:effectLst/>
              <a:uLnTx/>
              <a:uFillTx/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A858BE-01C5-0EC5-9E8F-9987576C9169}"/>
              </a:ext>
            </a:extLst>
          </p:cNvPr>
          <p:cNvSpPr txBox="1"/>
          <p:nvPr/>
        </p:nvSpPr>
        <p:spPr>
          <a:xfrm>
            <a:off x="6147754" y="1761713"/>
            <a:ext cx="5260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Linearity Violation</a:t>
            </a:r>
            <a:endParaRPr lang="en-US" altLang="zh-CN" sz="1800" dirty="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Modeling 1-5 Likert scales (e.g., political interest, SM use motivations) as continuous predictors violates </a:t>
            </a:r>
            <a:r>
              <a:rPr kumimoji="0" lang="en-US" altLang="zh-CN" sz="1800" b="1" i="0" u="sng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the assumption of linearity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.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DEF674-1A9A-789B-EBCF-6C63579BB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1449648"/>
            <a:ext cx="5092109" cy="33701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C319873-FD4A-C50F-2194-773143385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53" y="5044372"/>
            <a:ext cx="5164974" cy="14698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AE93A76-4A22-D21B-19C2-290185C16720}"/>
              </a:ext>
            </a:extLst>
          </p:cNvPr>
          <p:cNvSpPr txBox="1"/>
          <p:nvPr/>
        </p:nvSpPr>
        <p:spPr>
          <a:xfrm>
            <a:off x="6325077" y="5179127"/>
            <a:ext cx="49058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Lack of Integration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Running separate models for conceptually similar outcomes (awareness vs. following) fragments the interpretation.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338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5CD24E28-65F0-89F2-46B7-FEDB29B5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>
            <a:extLst>
              <a:ext uri="{FF2B5EF4-FFF2-40B4-BE49-F238E27FC236}">
                <a16:creationId xmlns:a16="http://schemas.microsoft.com/office/drawing/2014/main" id="{3C8B7076-22A8-4CEC-159D-D398B75C51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63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A48F9DED-8CE5-5932-D0B1-847AD7D927AA}"/>
              </a:ext>
            </a:extLst>
          </p:cNvPr>
          <p:cNvSpPr txBox="1"/>
          <p:nvPr/>
        </p:nvSpPr>
        <p:spPr>
          <a:xfrm>
            <a:off x="571500" y="42103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Extension 2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32C1E8-A091-104B-DE63-C75DE5E658D0}"/>
              </a:ext>
            </a:extLst>
          </p:cNvPr>
          <p:cNvSpPr txBox="1"/>
          <p:nvPr/>
        </p:nvSpPr>
        <p:spPr>
          <a:xfrm>
            <a:off x="493753" y="927974"/>
            <a:ext cx="8090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Multinomial Regression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variables recoding)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5088"/>
              </a:solidFill>
              <a:effectLst/>
              <a:uLnTx/>
              <a:uFillTx/>
              <a:latin typeface="DM Sans" pitchFamily="2" charset="0"/>
              <a:cs typeface="Arial"/>
              <a:sym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3493C1C-DC82-24B4-8DBF-9B814904B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26832"/>
              </p:ext>
            </p:extLst>
          </p:nvPr>
        </p:nvGraphicFramePr>
        <p:xfrm>
          <a:off x="493753" y="2344967"/>
          <a:ext cx="6130204" cy="1550128"/>
        </p:xfrm>
        <a:graphic>
          <a:graphicData uri="http://schemas.openxmlformats.org/drawingml/2006/table">
            <a:tbl>
              <a:tblPr/>
              <a:tblGrid>
                <a:gridCol w="2374633">
                  <a:extLst>
                    <a:ext uri="{9D8B030D-6E8A-4147-A177-3AD203B41FA5}">
                      <a16:colId xmlns:a16="http://schemas.microsoft.com/office/drawing/2014/main" val="3395588005"/>
                    </a:ext>
                  </a:extLst>
                </a:gridCol>
                <a:gridCol w="298763">
                  <a:extLst>
                    <a:ext uri="{9D8B030D-6E8A-4147-A177-3AD203B41FA5}">
                      <a16:colId xmlns:a16="http://schemas.microsoft.com/office/drawing/2014/main" val="2657655208"/>
                    </a:ext>
                  </a:extLst>
                </a:gridCol>
                <a:gridCol w="3456808">
                  <a:extLst>
                    <a:ext uri="{9D8B030D-6E8A-4147-A177-3AD203B41FA5}">
                      <a16:colId xmlns:a16="http://schemas.microsoft.com/office/drawing/2014/main" val="2280503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Original Status</a:t>
                      </a:r>
                    </a:p>
                  </a:txBody>
                  <a:tcPr marR="65314"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1" dirty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→</a:t>
                      </a:r>
                    </a:p>
                  </a:txBody>
                  <a:tcPr marR="65314"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New Category (Engagement Level)</a:t>
                      </a:r>
                    </a:p>
                  </a:txBody>
                  <a:tcPr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533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Not Aware + Not Following</a:t>
                      </a:r>
                    </a:p>
                  </a:txBody>
                  <a:tcPr marR="65314"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0" dirty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→</a:t>
                      </a:r>
                    </a:p>
                  </a:txBody>
                  <a:tcPr marR="65314"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Level 0: None</a:t>
                      </a:r>
                    </a:p>
                  </a:txBody>
                  <a:tcPr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93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Aware + Not Following</a:t>
                      </a:r>
                    </a:p>
                  </a:txBody>
                  <a:tcPr marR="65314"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0" dirty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→</a:t>
                      </a:r>
                    </a:p>
                  </a:txBody>
                  <a:tcPr marR="65314"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Level 1: Aware</a:t>
                      </a:r>
                    </a:p>
                  </a:txBody>
                  <a:tcPr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46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Aware + Following</a:t>
                      </a:r>
                    </a:p>
                  </a:txBody>
                  <a:tcPr marR="65314"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CN" altLang="en-US" b="0" dirty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→</a:t>
                      </a:r>
                    </a:p>
                  </a:txBody>
                  <a:tcPr marR="65314"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334155"/>
                          </a:solidFill>
                          <a:effectLst/>
                          <a:latin typeface="DM Sans" pitchFamily="2" charset="0"/>
                        </a:rPr>
                        <a:t>Level 2: Engaged</a:t>
                      </a:r>
                    </a:p>
                  </a:txBody>
                  <a:tcPr marT="87086" marB="87086" anchor="ctr">
                    <a:lnL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4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04442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694F89C-14CF-74AD-0C59-5C335B7479D3}"/>
              </a:ext>
            </a:extLst>
          </p:cNvPr>
          <p:cNvSpPr txBox="1"/>
          <p:nvPr/>
        </p:nvSpPr>
        <p:spPr>
          <a:xfrm>
            <a:off x="493753" y="1924517"/>
            <a:ext cx="6152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DV: Political Influencer Engagement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84DAF4-148B-560C-34AA-C2D807B4A75A}"/>
              </a:ext>
            </a:extLst>
          </p:cNvPr>
          <p:cNvSpPr txBox="1"/>
          <p:nvPr/>
        </p:nvSpPr>
        <p:spPr>
          <a:xfrm>
            <a:off x="493753" y="4513033"/>
            <a:ext cx="6152706" cy="1122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800" b="1" dirty="0">
                <a:solidFill>
                  <a:srgbClr val="334155"/>
                </a:solidFill>
                <a:latin typeface="DM Sans"/>
                <a:sym typeface="DM Sans"/>
              </a:rPr>
              <a:t>IV1:</a:t>
            </a:r>
            <a:r>
              <a:rPr lang="en-US" altLang="zh-CN" sz="1800" b="1" dirty="0">
                <a:solidFill>
                  <a:srgbClr val="334155"/>
                </a:solidFill>
                <a:latin typeface="DM Sans"/>
              </a:rPr>
              <a:t>Entertainment and Consumption Motivation</a:t>
            </a:r>
          </a:p>
          <a:p>
            <a:pPr lvl="0" algn="just">
              <a:lnSpc>
                <a:spcPct val="150000"/>
              </a:lnSpc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Mean score of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Public Figures </a:t>
            </a:r>
            <a:r>
              <a:rPr lang="en-US" altLang="zh-CN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Brands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 ,</a:t>
            </a:r>
            <a:r>
              <a:rPr kumimoji="0" lang="en-US" altLang="zh-CN" b="0" i="1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Entertainment Motivation</a:t>
            </a:r>
          </a:p>
          <a:p>
            <a:pPr lvl="0" algn="just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→ </a:t>
            </a:r>
            <a:r>
              <a:rPr lang="en-US" altLang="zh-CN" dirty="0">
                <a:solidFill>
                  <a:srgbClr val="334155"/>
                </a:solidFill>
                <a:latin typeface="DM Sans"/>
                <a:sym typeface="DM Sans"/>
              </a:rPr>
              <a:t>Low (&lt; 3) | Moderate (3–4) | High (</a:t>
            </a:r>
            <a:r>
              <a:rPr lang="zh-CN" altLang="en-US" dirty="0">
                <a:solidFill>
                  <a:srgbClr val="334155"/>
                </a:solidFill>
                <a:latin typeface="DM Sans"/>
                <a:sym typeface="DM Sans"/>
              </a:rPr>
              <a:t>≥</a:t>
            </a:r>
            <a:r>
              <a:rPr lang="en-US" altLang="zh-CN" dirty="0">
                <a:solidFill>
                  <a:srgbClr val="334155"/>
                </a:solidFill>
                <a:latin typeface="DM Sans"/>
                <a:sym typeface="DM Sans"/>
              </a:rPr>
              <a:t>4)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334155"/>
              </a:solidFill>
              <a:effectLst/>
              <a:uLnTx/>
              <a:uFillTx/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408BCF8-58C4-AB31-8049-6640DC12DAA4}"/>
              </a:ext>
            </a:extLst>
          </p:cNvPr>
          <p:cNvGrpSpPr/>
          <p:nvPr/>
        </p:nvGrpSpPr>
        <p:grpSpPr>
          <a:xfrm>
            <a:off x="6646459" y="1815275"/>
            <a:ext cx="5379730" cy="2273162"/>
            <a:chOff x="6329768" y="1633827"/>
            <a:chExt cx="5647790" cy="2386429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45B8C8E-8D0A-6666-193B-492A10F79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9768" y="2447893"/>
              <a:ext cx="5647790" cy="1572363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1878B14-9DFA-F42F-EC72-E4EE497FF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3588"/>
            <a:stretch>
              <a:fillRect/>
            </a:stretch>
          </p:blipFill>
          <p:spPr>
            <a:xfrm>
              <a:off x="6329768" y="1633827"/>
              <a:ext cx="5647790" cy="868616"/>
            </a:xfrm>
            <a:prstGeom prst="rect">
              <a:avLst/>
            </a:prstGeom>
          </p:spPr>
        </p:pic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FD1C059F-0776-CEFD-2AF6-911FC5583957}"/>
              </a:ext>
            </a:extLst>
          </p:cNvPr>
          <p:cNvSpPr txBox="1"/>
          <p:nvPr/>
        </p:nvSpPr>
        <p:spPr>
          <a:xfrm>
            <a:off x="6739777" y="4513033"/>
            <a:ext cx="6152706" cy="1122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800" b="1" dirty="0">
                <a:solidFill>
                  <a:srgbClr val="334155"/>
                </a:solidFill>
                <a:latin typeface="DM Sans"/>
                <a:sym typeface="DM Sans"/>
              </a:rPr>
              <a:t>IV2:</a:t>
            </a:r>
            <a:r>
              <a:rPr lang="en-US" altLang="zh-CN" sz="1800" b="1" dirty="0">
                <a:solidFill>
                  <a:srgbClr val="334155"/>
                </a:solidFill>
                <a:latin typeface="DM Sans"/>
              </a:rPr>
              <a:t>Political Interest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334155"/>
                </a:solidFill>
                <a:latin typeface="DM Sans"/>
                <a:sym typeface="DM Sans"/>
              </a:rPr>
              <a:t>Recoded the 1–5 Likert scale into three levels</a:t>
            </a:r>
          </a:p>
          <a:p>
            <a:pPr algn="just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334155"/>
                </a:solidFill>
                <a:latin typeface="DM Sans"/>
                <a:sym typeface="DM Sans"/>
              </a:rPr>
              <a:t>→ </a:t>
            </a:r>
            <a:r>
              <a:rPr lang="en-US" altLang="zh-CN" dirty="0">
                <a:solidFill>
                  <a:srgbClr val="334155"/>
                </a:solidFill>
                <a:latin typeface="DM Sans"/>
                <a:sym typeface="DM Sans"/>
              </a:rPr>
              <a:t>Low (&lt; 3) | Moderate (3–4) | High (</a:t>
            </a:r>
            <a:r>
              <a:rPr lang="zh-CN" altLang="en-US" dirty="0">
                <a:solidFill>
                  <a:srgbClr val="334155"/>
                </a:solidFill>
                <a:latin typeface="DM Sans"/>
                <a:sym typeface="DM Sans"/>
              </a:rPr>
              <a:t>≥</a:t>
            </a:r>
            <a:r>
              <a:rPr lang="en-US" altLang="zh-CN" dirty="0">
                <a:solidFill>
                  <a:srgbClr val="334155"/>
                </a:solidFill>
                <a:latin typeface="DM Sans"/>
                <a:sym typeface="DM Sans"/>
              </a:rPr>
              <a:t>4)</a:t>
            </a:r>
          </a:p>
        </p:txBody>
      </p:sp>
    </p:spTree>
    <p:extLst>
      <p:ext uri="{BB962C8B-B14F-4D97-AF65-F5344CB8AC3E}">
        <p14:creationId xmlns:p14="http://schemas.microsoft.com/office/powerpoint/2010/main" val="241471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94D0C838-44A7-806D-33EA-D9E8A2F8E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>
            <a:extLst>
              <a:ext uri="{FF2B5EF4-FFF2-40B4-BE49-F238E27FC236}">
                <a16:creationId xmlns:a16="http://schemas.microsoft.com/office/drawing/2014/main" id="{97184747-7EDB-E49D-EA8E-5DC5D6EB96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63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D6739ED9-7D47-7F78-2ACD-8EA271A4138B}"/>
              </a:ext>
            </a:extLst>
          </p:cNvPr>
          <p:cNvSpPr txBox="1"/>
          <p:nvPr/>
        </p:nvSpPr>
        <p:spPr>
          <a:xfrm>
            <a:off x="571500" y="42103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Extension 2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8CCA15-B993-1459-672D-5EDE443900C3}"/>
              </a:ext>
            </a:extLst>
          </p:cNvPr>
          <p:cNvSpPr txBox="1"/>
          <p:nvPr/>
        </p:nvSpPr>
        <p:spPr>
          <a:xfrm>
            <a:off x="493753" y="927974"/>
            <a:ext cx="8090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Multinomial Regression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variables recoding)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5088"/>
              </a:solidFill>
              <a:effectLst/>
              <a:uLnTx/>
              <a:uFillTx/>
              <a:latin typeface="DM Sans" pitchFamily="2" charset="0"/>
              <a:cs typeface="Arial"/>
              <a:sym typeface="Arial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17AA1AE-AEF3-3FDD-62C4-BCE7BD207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217" y="1896841"/>
            <a:ext cx="6204404" cy="2906738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888E5D5D-3A5C-981A-0AD3-59034C851F83}"/>
              </a:ext>
            </a:extLst>
          </p:cNvPr>
          <p:cNvGrpSpPr/>
          <p:nvPr/>
        </p:nvGrpSpPr>
        <p:grpSpPr>
          <a:xfrm>
            <a:off x="216873" y="1872879"/>
            <a:ext cx="5347339" cy="4691072"/>
            <a:chOff x="211120" y="1985621"/>
            <a:chExt cx="5347339" cy="469107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4A78AFA6-72E0-EE25-E7DC-65B5DD1DAEB8}"/>
                </a:ext>
              </a:extLst>
            </p:cNvPr>
            <p:cNvGrpSpPr/>
            <p:nvPr/>
          </p:nvGrpSpPr>
          <p:grpSpPr>
            <a:xfrm>
              <a:off x="211120" y="1985621"/>
              <a:ext cx="5347339" cy="4691072"/>
              <a:chOff x="329585" y="1603236"/>
              <a:chExt cx="5155644" cy="4522904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376432EF-961C-64C1-0BCB-F6932F911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585" y="4880298"/>
                <a:ext cx="5099541" cy="1245842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4F38CCB1-DFDF-0582-A7A4-601905C86C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6424" y="1603236"/>
                <a:ext cx="5088805" cy="2866793"/>
              </a:xfrm>
              <a:prstGeom prst="rect">
                <a:avLst/>
              </a:prstGeom>
            </p:spPr>
          </p:pic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EAF1778F-3373-BB25-1EB9-2D3C8A6FA30E}"/>
                </a:ext>
              </a:extLst>
            </p:cNvPr>
            <p:cNvGrpSpPr/>
            <p:nvPr/>
          </p:nvGrpSpPr>
          <p:grpSpPr>
            <a:xfrm>
              <a:off x="571501" y="2873528"/>
              <a:ext cx="2846614" cy="592483"/>
              <a:chOff x="571500" y="2873528"/>
              <a:chExt cx="2859677" cy="640381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497800A-EF4D-380D-8C39-A8C10A13BCA6}"/>
                  </a:ext>
                </a:extLst>
              </p:cNvPr>
              <p:cNvSpPr/>
              <p:nvPr/>
            </p:nvSpPr>
            <p:spPr>
              <a:xfrm>
                <a:off x="2667163" y="3360778"/>
                <a:ext cx="764014" cy="153131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1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717FF45-86DF-F2C1-B349-15B1EA2EA855}"/>
                  </a:ext>
                </a:extLst>
              </p:cNvPr>
              <p:cNvSpPr/>
              <p:nvPr/>
            </p:nvSpPr>
            <p:spPr>
              <a:xfrm>
                <a:off x="571500" y="2873528"/>
                <a:ext cx="2820489" cy="222369"/>
              </a:xfrm>
              <a:prstGeom prst="rect">
                <a:avLst/>
              </a:prstGeom>
              <a:solidFill>
                <a:schemeClr val="bg2">
                  <a:lumMod val="60000"/>
                  <a:lumOff val="40000"/>
                  <a:alpha val="1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C8FFA652-5239-6372-0CF8-B1A45FEFAEBE}"/>
              </a:ext>
            </a:extLst>
          </p:cNvPr>
          <p:cNvSpPr txBox="1"/>
          <p:nvPr/>
        </p:nvSpPr>
        <p:spPr>
          <a:xfrm>
            <a:off x="353390" y="1491625"/>
            <a:ext cx="61555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34155"/>
                </a:solidFill>
                <a:latin typeface="DM Sans"/>
                <a:sym typeface="DM Sans"/>
              </a:rPr>
              <a:t>Violating parallel regression assumption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FCD779-1B98-A590-D4D8-FB22890E62E9}"/>
              </a:ext>
            </a:extLst>
          </p:cNvPr>
          <p:cNvSpPr txBox="1"/>
          <p:nvPr/>
        </p:nvSpPr>
        <p:spPr>
          <a:xfrm>
            <a:off x="307072" y="4945140"/>
            <a:ext cx="61555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Using unordered multinomial regression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0CF4C8E-EE19-02EE-F35B-3F62B1FBF9E0}"/>
              </a:ext>
            </a:extLst>
          </p:cNvPr>
          <p:cNvSpPr/>
          <p:nvPr/>
        </p:nvSpPr>
        <p:spPr>
          <a:xfrm>
            <a:off x="9936641" y="3706797"/>
            <a:ext cx="513646" cy="139489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F6B66C-E208-3F9D-4AC0-F81667E45CEA}"/>
              </a:ext>
            </a:extLst>
          </p:cNvPr>
          <p:cNvSpPr/>
          <p:nvPr/>
        </p:nvSpPr>
        <p:spPr>
          <a:xfrm>
            <a:off x="9936641" y="3873980"/>
            <a:ext cx="513646" cy="139489"/>
          </a:xfrm>
          <a:prstGeom prst="rect">
            <a:avLst/>
          </a:prstGeom>
          <a:solidFill>
            <a:schemeClr val="bg2">
              <a:lumMod val="60000"/>
              <a:lumOff val="4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7E2BDBB-110E-BB05-54A6-8BD960632328}"/>
              </a:ext>
            </a:extLst>
          </p:cNvPr>
          <p:cNvSpPr txBox="1"/>
          <p:nvPr/>
        </p:nvSpPr>
        <p:spPr>
          <a:xfrm>
            <a:off x="5978535" y="5252917"/>
            <a:ext cx="56245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The general entertainment</a:t>
            </a:r>
            <a:r>
              <a:rPr lang="en-US" altLang="zh-CN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&amp;consumption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DM Sans"/>
                <a:ea typeface="DM Sans"/>
                <a:cs typeface="DM Sans"/>
                <a:sym typeface="DM Sans"/>
              </a:rPr>
              <a:t>motivations are positively associated with </a:t>
            </a:r>
            <a:r>
              <a:rPr lang="en-US" altLang="zh-CN" sz="18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political influencer engagement level ?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3726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3A214447-DAC9-D29E-8A72-921BB65B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>
            <a:extLst>
              <a:ext uri="{FF2B5EF4-FFF2-40B4-BE49-F238E27FC236}">
                <a16:creationId xmlns:a16="http://schemas.microsoft.com/office/drawing/2014/main" id="{AAD9F4B1-DD29-0A2E-8610-5E3AAD5A25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63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12D0B822-89E0-B10F-7AAF-7B6D57FE0B25}"/>
              </a:ext>
            </a:extLst>
          </p:cNvPr>
          <p:cNvSpPr txBox="1"/>
          <p:nvPr/>
        </p:nvSpPr>
        <p:spPr>
          <a:xfrm>
            <a:off x="571500" y="42103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Extension 2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60B67C-7A2B-D5CB-695A-E74DA4D4D675}"/>
              </a:ext>
            </a:extLst>
          </p:cNvPr>
          <p:cNvSpPr txBox="1"/>
          <p:nvPr/>
        </p:nvSpPr>
        <p:spPr>
          <a:xfrm>
            <a:off x="493753" y="927974"/>
            <a:ext cx="8090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Interpretation by probability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5088"/>
              </a:solidFill>
              <a:effectLst/>
              <a:uLnTx/>
              <a:uFillTx/>
              <a:latin typeface="DM Sans" pitchFamily="2" charset="0"/>
              <a:cs typeface="Arial"/>
              <a:sym typeface="Arial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C87498F-7493-5B55-86E2-867DD167F47F}"/>
              </a:ext>
            </a:extLst>
          </p:cNvPr>
          <p:cNvSpPr txBox="1"/>
          <p:nvPr/>
        </p:nvSpPr>
        <p:spPr>
          <a:xfrm>
            <a:off x="6287885" y="1927361"/>
            <a:ext cx="61555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M Sans"/>
                <a:cs typeface="Arial"/>
                <a:sym typeface="DM Sans"/>
              </a:rPr>
              <a:t>Predicting Engagement Across Four Audience Profiles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1F2FD20-C5DC-67FA-6F14-6EDF7D4E4EF9}"/>
              </a:ext>
            </a:extLst>
          </p:cNvPr>
          <p:cNvGrpSpPr/>
          <p:nvPr/>
        </p:nvGrpSpPr>
        <p:grpSpPr>
          <a:xfrm>
            <a:off x="396424" y="1552090"/>
            <a:ext cx="5201358" cy="5054193"/>
            <a:chOff x="346588" y="1451849"/>
            <a:chExt cx="5488155" cy="533287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028EACA-F909-32C3-C946-BEE8FF421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390" y="1451849"/>
              <a:ext cx="5481353" cy="1805051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019BFF9-C6FB-E03C-5E34-D1A247431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6588" y="3208160"/>
              <a:ext cx="5481353" cy="3576565"/>
            </a:xfrm>
            <a:prstGeom prst="rect">
              <a:avLst/>
            </a:prstGeom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2A035378-A96A-E786-AD98-203A7D05C9D4}"/>
              </a:ext>
            </a:extLst>
          </p:cNvPr>
          <p:cNvSpPr txBox="1"/>
          <p:nvPr/>
        </p:nvSpPr>
        <p:spPr>
          <a:xfrm>
            <a:off x="6287885" y="2392132"/>
            <a:ext cx="615557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1800" b="1" dirty="0">
                <a:latin typeface="DM Sans" pitchFamily="2" charset="0"/>
              </a:rPr>
              <a:t>Political Interest</a:t>
            </a:r>
          </a:p>
          <a:p>
            <a:pPr lvl="0">
              <a:lnSpc>
                <a:spcPct val="150000"/>
              </a:lnSpc>
            </a:pPr>
            <a:r>
              <a:rPr lang="en-US" altLang="zh-CN" dirty="0">
                <a:latin typeface="DM Sans" pitchFamily="2" charset="0"/>
              </a:rPr>
              <a:t>(For People with High Entertainment/Consumption Motivation)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DM Sans" pitchFamily="2" charset="0"/>
              </a:rPr>
              <a:t>Shift: Low </a:t>
            </a:r>
            <a:r>
              <a:rPr lang="zh-CN" altLang="en-US" dirty="0">
                <a:latin typeface="DM Sans" pitchFamily="2" charset="0"/>
              </a:rPr>
              <a:t>→</a:t>
            </a:r>
            <a:r>
              <a:rPr lang="en-US" altLang="zh-CN" dirty="0">
                <a:latin typeface="DM Sans" pitchFamily="2" charset="0"/>
              </a:rPr>
              <a:t>High Political Interest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7A7E5"/>
                </a:solidFill>
                <a:latin typeface="DM Sans" pitchFamily="2" charset="0"/>
              </a:rPr>
              <a:t>Awareness: increase16.3% (to 42.5%)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D45E00"/>
                </a:solidFill>
                <a:latin typeface="DM Sans" pitchFamily="2" charset="0"/>
              </a:rPr>
              <a:t>Engagement: increase 7.0% (to 40.2%)</a:t>
            </a:r>
          </a:p>
          <a:p>
            <a:pPr lvl="0"/>
            <a:endParaRPr lang="en-US" altLang="zh-CN" sz="1800" b="1" dirty="0">
              <a:latin typeface="DM Sans" pitchFamily="2" charset="0"/>
            </a:endParaRPr>
          </a:p>
          <a:p>
            <a:pPr lvl="0"/>
            <a:r>
              <a:rPr lang="en-US" altLang="zh-CN" sz="1800" b="1" dirty="0">
                <a:latin typeface="DM Sans" pitchFamily="2" charset="0"/>
              </a:rPr>
              <a:t>Entertainment/Consumption Motivation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DM Sans" pitchFamily="2" charset="0"/>
              </a:rPr>
              <a:t>(For People with Low Political Interest)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DM Sans" pitchFamily="2" charset="0"/>
              </a:rPr>
              <a:t>Shift: Low </a:t>
            </a:r>
            <a:r>
              <a:rPr lang="zh-CN" altLang="en-US" dirty="0">
                <a:latin typeface="DM Sans" pitchFamily="2" charset="0"/>
              </a:rPr>
              <a:t>→</a:t>
            </a:r>
            <a:r>
              <a:rPr lang="en-US" altLang="zh-CN" dirty="0">
                <a:latin typeface="DM Sans" pitchFamily="2" charset="0"/>
              </a:rPr>
              <a:t>High </a:t>
            </a:r>
            <a:r>
              <a:rPr lang="en-US" altLang="zh-CN" b="1" dirty="0">
                <a:latin typeface="DM Sans" pitchFamily="2" charset="0"/>
              </a:rPr>
              <a:t>Entertainment/Consumption </a:t>
            </a:r>
            <a:r>
              <a:rPr lang="en-US" altLang="zh-CN" dirty="0">
                <a:latin typeface="DM Sans" pitchFamily="2" charset="0"/>
              </a:rPr>
              <a:t>Motivation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7A7E5"/>
                </a:solidFill>
                <a:latin typeface="DM Sans" pitchFamily="2" charset="0"/>
              </a:rPr>
              <a:t>Awareness: decrease 22.7% (to 26.2%)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D45E00"/>
                </a:solidFill>
                <a:latin typeface="DM Sans" pitchFamily="2" charset="0"/>
              </a:rPr>
              <a:t>Engagement: increase 21.8% (to 33.2%)</a:t>
            </a:r>
          </a:p>
          <a:p>
            <a:endParaRPr lang="en-US" altLang="zh-CN" sz="1800" dirty="0">
              <a:latin typeface="DM Sans" pitchFamily="2" charset="0"/>
            </a:endParaRPr>
          </a:p>
          <a:p>
            <a:pPr lvl="0"/>
            <a:endParaRPr lang="en-US" altLang="zh-CN" sz="1800" dirty="0">
              <a:latin typeface="DM Sans" pitchFamily="2" charset="0"/>
            </a:endParaRPr>
          </a:p>
          <a:p>
            <a:pPr lvl="0"/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2480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5">
          <a:extLst>
            <a:ext uri="{FF2B5EF4-FFF2-40B4-BE49-F238E27FC236}">
              <a16:creationId xmlns:a16="http://schemas.microsoft.com/office/drawing/2014/main" id="{5C6311B2-6B67-6D6D-1792-32D144D3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>
            <a:extLst>
              <a:ext uri="{FF2B5EF4-FFF2-40B4-BE49-F238E27FC236}">
                <a16:creationId xmlns:a16="http://schemas.microsoft.com/office/drawing/2014/main" id="{56D6B697-541D-3CE7-0BA4-66300E50E6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637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4070B051-E40C-3E69-60AC-A4C94F5B7CD8}"/>
              </a:ext>
            </a:extLst>
          </p:cNvPr>
          <p:cNvSpPr txBox="1"/>
          <p:nvPr/>
        </p:nvSpPr>
        <p:spPr>
          <a:xfrm>
            <a:off x="571500" y="42103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33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Merriweather"/>
                <a:ea typeface="Merriweather"/>
                <a:cs typeface="Merriweather"/>
                <a:sym typeface="Merriweather"/>
              </a:rPr>
              <a:t>Extension 2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3466A9-C818-1B63-B226-D8F313EDA397}"/>
              </a:ext>
            </a:extLst>
          </p:cNvPr>
          <p:cNvSpPr txBox="1"/>
          <p:nvPr/>
        </p:nvSpPr>
        <p:spPr>
          <a:xfrm>
            <a:off x="493753" y="927974"/>
            <a:ext cx="80902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5088"/>
                </a:solidFill>
                <a:effectLst/>
                <a:uLnTx/>
                <a:uFillTx/>
                <a:latin typeface="DM Sans" pitchFamily="2" charset="0"/>
                <a:cs typeface="Arial"/>
                <a:sym typeface="DM Sans"/>
              </a:rPr>
              <a:t>Fit Evaluation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5088"/>
              </a:solidFill>
              <a:effectLst/>
              <a:uLnTx/>
              <a:uFillTx/>
              <a:latin typeface="DM Sans" pitchFamily="2" charset="0"/>
              <a:cs typeface="Arial"/>
              <a:sym typeface="Arial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525AD2-ADB3-CE60-51B0-9D5642CAB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261" y="2738796"/>
            <a:ext cx="7801283" cy="34900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D9B1F9B-4D78-AA18-C1CD-EF485D8A8A8E}"/>
              </a:ext>
            </a:extLst>
          </p:cNvPr>
          <p:cNvSpPr txBox="1"/>
          <p:nvPr/>
        </p:nvSpPr>
        <p:spPr>
          <a:xfrm>
            <a:off x="3154135" y="1833385"/>
            <a:ext cx="615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5088"/>
                </a:solidFill>
                <a:latin typeface="DM Sans" pitchFamily="2" charset="0"/>
              </a:rPr>
              <a:t>Overall accuracy rate: 62.51%</a:t>
            </a:r>
            <a:endParaRPr lang="zh-CN" altLang="en-US" sz="2400" b="1" dirty="0">
              <a:solidFill>
                <a:srgbClr val="005088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868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112395" y="2967335"/>
            <a:ext cx="116014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3F0DF"/>
                </a:solidFill>
                <a:latin typeface="DM Sans"/>
                <a:sym typeface="DM Sans"/>
              </a:rPr>
              <a:t>Q&amp;A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1523</Words>
  <Application>Microsoft Office PowerPoint</Application>
  <PresentationFormat>宽屏</PresentationFormat>
  <Paragraphs>149</Paragraphs>
  <Slides>16</Slides>
  <Notes>16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Merriweather</vt:lpstr>
      <vt:lpstr>Calibri</vt:lpstr>
      <vt:lpstr>Arial</vt:lpstr>
      <vt:lpstr>DM Sans</vt:lpstr>
      <vt:lpstr>Google Sans Text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Hanyu Li</cp:lastModifiedBy>
  <cp:revision>19</cp:revision>
  <dcterms:modified xsi:type="dcterms:W3CDTF">2026-03-31T22:56:26Z</dcterms:modified>
</cp:coreProperties>
</file>